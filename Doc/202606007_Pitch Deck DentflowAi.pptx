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664" y="1888331"/>
            <a:ext cx="8518672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de Servicios Dentales</a:t>
            </a:r>
            <a:endParaRPr lang="en-US" sz="756" dirty="0"/>
          </a:p>
        </p:txBody>
      </p:sp>
      <p:sp>
        <p:nvSpPr>
          <p:cNvPr id="3" name="Text 1"/>
          <p:cNvSpPr/>
          <p:nvPr/>
        </p:nvSpPr>
        <p:spPr>
          <a:xfrm>
            <a:off x="312664" y="2077938"/>
            <a:ext cx="8518672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6000" dirty="0">
                <a:solidFill>
                  <a:srgbClr val="6282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DentflowAI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12664" y="3038029"/>
            <a:ext cx="8518672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Servicio Gestionado · Motor Fauchard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180" y="1494681"/>
            <a:ext cx="2697510" cy="1761083"/>
          </a:xfrm>
          <a:prstGeom prst="roundRect">
            <a:avLst>
              <a:gd name="adj" fmla="val 72692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23171" y="1494681"/>
            <a:ext cx="2697510" cy="1761083"/>
          </a:xfrm>
          <a:prstGeom prst="roundRect">
            <a:avLst>
              <a:gd name="adj" fmla="val 72692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50161" y="1494681"/>
            <a:ext cx="2697659" cy="1761083"/>
          </a:xfrm>
          <a:prstGeom prst="roundRect">
            <a:avLst>
              <a:gd name="adj" fmla="val 72692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6180" y="3385245"/>
            <a:ext cx="8351639" cy="1077813"/>
          </a:xfrm>
          <a:prstGeom prst="roundRect">
            <a:avLst>
              <a:gd name="adj" fmla="val 118774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6180" y="680293"/>
            <a:ext cx="8518672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</a:t>
            </a:r>
            <a:endParaRPr lang="en-US" sz="756" dirty="0"/>
          </a:p>
        </p:txBody>
      </p:sp>
      <p:sp>
        <p:nvSpPr>
          <p:cNvPr id="7" name="Text 5"/>
          <p:cNvSpPr/>
          <p:nvPr/>
        </p:nvSpPr>
        <p:spPr>
          <a:xfrm>
            <a:off x="396180" y="869900"/>
            <a:ext cx="851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880" dirty="0">
                <a:solidFill>
                  <a:srgbClr val="DCE6F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coordinación dentista‑laboratorio es </a:t>
            </a:r>
            <a:pPr indent="0" marL="0">
              <a:lnSpc>
                <a:spcPts val="3600"/>
              </a:lnSpc>
              <a:buNone/>
            </a:pPr>
            <a:r>
              <a:rPr lang="en-US" sz="2880" dirty="0">
                <a:solidFill>
                  <a:srgbClr val="0D948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ineficiente por diseño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526475" y="1648867"/>
            <a:ext cx="243692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🔁</a:t>
            </a:r>
            <a:endParaRPr lang="en-US" sz="1920" dirty="0"/>
          </a:p>
        </p:txBody>
      </p:sp>
      <p:sp>
        <p:nvSpPr>
          <p:cNvPr id="9" name="Text 7"/>
          <p:cNvSpPr/>
          <p:nvPr/>
        </p:nvSpPr>
        <p:spPr>
          <a:xfrm>
            <a:off x="526475" y="2067818"/>
            <a:ext cx="24369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50366" y="2505968"/>
            <a:ext cx="2389138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5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rehacimiento de coronas — promedio nacional EE.UU.</a:t>
            </a:r>
            <a:endParaRPr lang="en-US" sz="852" dirty="0"/>
          </a:p>
        </p:txBody>
      </p:sp>
      <p:sp>
        <p:nvSpPr>
          <p:cNvPr id="11" name="Text 9"/>
          <p:cNvSpPr/>
          <p:nvPr/>
        </p:nvSpPr>
        <p:spPr>
          <a:xfrm>
            <a:off x="3353465" y="1648867"/>
            <a:ext cx="243692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</a:t>
            </a:r>
            <a:endParaRPr lang="en-US" sz="1920" dirty="0"/>
          </a:p>
        </p:txBody>
      </p:sp>
      <p:sp>
        <p:nvSpPr>
          <p:cNvPr id="12" name="Text 10"/>
          <p:cNvSpPr/>
          <p:nvPr/>
        </p:nvSpPr>
        <p:spPr>
          <a:xfrm>
            <a:off x="3353465" y="2067818"/>
            <a:ext cx="24369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&gt;86%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377357" y="2505968"/>
            <a:ext cx="2389138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5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técnicos reciben prescripciones incompletas o poco claras del dentista</a:t>
            </a:r>
            <a:endParaRPr lang="en-US" sz="852" dirty="0"/>
          </a:p>
        </p:txBody>
      </p:sp>
      <p:sp>
        <p:nvSpPr>
          <p:cNvPr id="14" name="Text 12"/>
          <p:cNvSpPr/>
          <p:nvPr/>
        </p:nvSpPr>
        <p:spPr>
          <a:xfrm>
            <a:off x="6180454" y="1648867"/>
            <a:ext cx="243707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💸</a:t>
            </a:r>
            <a:endParaRPr lang="en-US" sz="1920" dirty="0"/>
          </a:p>
        </p:txBody>
      </p:sp>
      <p:sp>
        <p:nvSpPr>
          <p:cNvPr id="15" name="Text 13"/>
          <p:cNvSpPr/>
          <p:nvPr/>
        </p:nvSpPr>
        <p:spPr>
          <a:xfrm>
            <a:off x="6180454" y="2067818"/>
            <a:ext cx="24370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$420+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204347" y="2505968"/>
            <a:ext cx="2389287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5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real por corona rehecha (honorario + materiales + tiempo clínico)</a:t>
            </a:r>
            <a:endParaRPr lang="en-US" sz="852" dirty="0"/>
          </a:p>
        </p:txBody>
      </p:sp>
      <p:sp>
        <p:nvSpPr>
          <p:cNvPr id="17" name="Text 15"/>
          <p:cNvSpPr/>
          <p:nvPr/>
        </p:nvSpPr>
        <p:spPr>
          <a:xfrm>
            <a:off x="577155" y="3509070"/>
            <a:ext cx="8008739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Raíz del problema: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comunicación se maneja por canales dispersos — llamadas, WhatsApp, papel. Sin plataforma centralizada, el rehacimiento es estructural. Según Evident Digital (2024), el 82% de los rehacimienos externos se originan en errores del dentista —información incompleta en el encargo.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180" y="2142381"/>
            <a:ext cx="2697510" cy="1893391"/>
          </a:xfrm>
          <a:prstGeom prst="roundRect">
            <a:avLst>
              <a:gd name="adj" fmla="val 67612"/>
            </a:avLst>
          </a:prstGeom>
          <a:solidFill>
            <a:srgbClr val="F87171">
              <a:alpha val="4000"/>
            </a:srgbClr>
          </a:solidFill>
          <a:ln w="9525">
            <a:solidFill>
              <a:srgbClr val="F8717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0461" y="2552849"/>
            <a:ext cx="835670" cy="162967"/>
          </a:xfrm>
          <a:prstGeom prst="roundRect">
            <a:avLst>
              <a:gd name="adj" fmla="val 5554842"/>
            </a:avLst>
          </a:prstGeom>
          <a:solidFill>
            <a:srgbClr val="F87171">
              <a:alpha val="14000"/>
            </a:srgbClr>
          </a:solidFill>
          <a:ln/>
        </p:spPr>
        <p:txBody>
          <a:bodyPr wrap="square" lIns="68580" tIns="68580" rIns="68580" bIns="68580" rtlCol="0" anchor="t">
            <a:normAutofit/>
          </a:bodyPr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Descartado</a:t>
            </a:r>
            <a:endParaRPr lang="en-US" sz="696" dirty="0"/>
          </a:p>
        </p:txBody>
      </p:sp>
      <p:sp>
        <p:nvSpPr>
          <p:cNvPr id="4" name="Text 2"/>
          <p:cNvSpPr/>
          <p:nvPr/>
        </p:nvSpPr>
        <p:spPr>
          <a:xfrm>
            <a:off x="573286" y="3071068"/>
            <a:ext cx="2343299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23171" y="2142381"/>
            <a:ext cx="2697510" cy="1893391"/>
          </a:xfrm>
          <a:prstGeom prst="roundRect">
            <a:avLst>
              <a:gd name="adj" fmla="val 67612"/>
            </a:avLst>
          </a:prstGeom>
          <a:solidFill>
            <a:srgbClr val="FBBF24">
              <a:alpha val="3000"/>
            </a:srgbClr>
          </a:solidFill>
          <a:ln w="9525">
            <a:solidFill>
              <a:srgbClr val="FBBF2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451" y="2552849"/>
            <a:ext cx="619720" cy="162967"/>
          </a:xfrm>
          <a:prstGeom prst="roundRect">
            <a:avLst>
              <a:gd name="adj" fmla="val 5554842"/>
            </a:avLst>
          </a:prstGeom>
          <a:solidFill>
            <a:srgbClr val="FBBF24">
              <a:alpha val="13000"/>
            </a:srgbClr>
          </a:solidFill>
          <a:ln/>
        </p:spPr>
        <p:txBody>
          <a:bodyPr wrap="square" lIns="68580" tIns="68580" rIns="68580" bIns="68580" rtlCol="0" anchor="t">
            <a:normAutofit/>
          </a:bodyPr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Inviable</a:t>
            </a:r>
            <a:endParaRPr lang="en-US" sz="696" dirty="0"/>
          </a:p>
        </p:txBody>
      </p:sp>
      <p:sp>
        <p:nvSpPr>
          <p:cNvPr id="7" name="Text 5"/>
          <p:cNvSpPr/>
          <p:nvPr/>
        </p:nvSpPr>
        <p:spPr>
          <a:xfrm>
            <a:off x="3400276" y="3071068"/>
            <a:ext cx="2343299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50161" y="2142381"/>
            <a:ext cx="2697659" cy="1893391"/>
          </a:xfrm>
          <a:prstGeom prst="roundRect">
            <a:avLst>
              <a:gd name="adj" fmla="val 67612"/>
            </a:avLst>
          </a:prstGeom>
          <a:solidFill>
            <a:srgbClr val="6282F0">
              <a:alpha val="5000"/>
            </a:srgbClr>
          </a:solidFill>
          <a:ln w="9525">
            <a:solidFill>
              <a:srgbClr val="6282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84441" y="2552849"/>
            <a:ext cx="692051" cy="162967"/>
          </a:xfrm>
          <a:prstGeom prst="roundRect">
            <a:avLst>
              <a:gd name="adj" fmla="val 5554842"/>
            </a:avLst>
          </a:prstGeom>
          <a:solidFill>
            <a:srgbClr val="6282F0">
              <a:alpha val="18000"/>
            </a:srgbClr>
          </a:solidFill>
          <a:ln/>
        </p:spPr>
        <p:txBody>
          <a:bodyPr wrap="square" lIns="68580" tIns="68580" rIns="68580" bIns="68580" rtlCol="0" anchor="t">
            <a:normAutofit/>
          </a:bodyPr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Elegido</a:t>
            </a:r>
            <a:endParaRPr lang="en-US" sz="696" dirty="0"/>
          </a:p>
        </p:txBody>
      </p:sp>
      <p:sp>
        <p:nvSpPr>
          <p:cNvPr id="10" name="Text 8"/>
          <p:cNvSpPr/>
          <p:nvPr/>
        </p:nvSpPr>
        <p:spPr>
          <a:xfrm>
            <a:off x="6227266" y="3246537"/>
            <a:ext cx="2343448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6180" y="1107728"/>
            <a:ext cx="8518672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Modelos</a:t>
            </a:r>
            <a:endParaRPr lang="en-US" sz="756" dirty="0"/>
          </a:p>
        </p:txBody>
      </p:sp>
      <p:sp>
        <p:nvSpPr>
          <p:cNvPr id="12" name="Text 10"/>
          <p:cNvSpPr/>
          <p:nvPr/>
        </p:nvSpPr>
        <p:spPr>
          <a:xfrm>
            <a:off x="396180" y="1297335"/>
            <a:ext cx="851867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80"/>
              </a:lnSpc>
              <a:buNone/>
            </a:pPr>
            <a:r>
              <a:rPr lang="en-US" sz="2520" dirty="0">
                <a:solidFill>
                  <a:srgbClr val="DCE6F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Tres modelos posibles. </a:t>
            </a:r>
            <a:pPr indent="0" marL="0">
              <a:lnSpc>
                <a:spcPts val="3780"/>
              </a:lnSpc>
              <a:buNone/>
            </a:pPr>
            <a:r>
              <a:rPr lang="en-US" sz="2520" dirty="0">
                <a:solidFill>
                  <a:srgbClr val="6282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Solo uno es viable.</a:t>
            </a:r>
            <a:endParaRPr lang="en-US" sz="2520" dirty="0"/>
          </a:p>
        </p:txBody>
      </p:sp>
      <p:sp>
        <p:nvSpPr>
          <p:cNvPr id="13" name="Text 11"/>
          <p:cNvSpPr/>
          <p:nvPr/>
        </p:nvSpPr>
        <p:spPr>
          <a:xfrm>
            <a:off x="396180" y="1822996"/>
            <a:ext cx="8518672" cy="16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4"/>
              </a:lnSpc>
              <a:buNone/>
            </a:pPr>
            <a:r>
              <a:rPr lang="en-US" sz="87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slides 4, 5 y 6 analizan cada uno en detalle.</a:t>
            </a:r>
            <a:endParaRPr lang="en-US" sz="876" dirty="0"/>
          </a:p>
        </p:txBody>
      </p:sp>
      <p:sp>
        <p:nvSpPr>
          <p:cNvPr id="14" name="Text 12"/>
          <p:cNvSpPr/>
          <p:nvPr/>
        </p:nvSpPr>
        <p:spPr>
          <a:xfrm>
            <a:off x="573286" y="2375148"/>
            <a:ext cx="1845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🏪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830461" y="2304306"/>
            <a:ext cx="1263015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Abierto</a:t>
            </a:r>
            <a:endParaRPr lang="en-US" sz="984" dirty="0"/>
          </a:p>
        </p:txBody>
      </p:sp>
      <p:sp>
        <p:nvSpPr>
          <p:cNvPr id="16" name="Text 14"/>
          <p:cNvSpPr/>
          <p:nvPr/>
        </p:nvSpPr>
        <p:spPr>
          <a:xfrm>
            <a:off x="573286" y="2804220"/>
            <a:ext cx="2390165" cy="17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Directorio de técnicos con contacto directo.</a:t>
            </a:r>
            <a:endParaRPr lang="en-US" sz="864" dirty="0"/>
          </a:p>
        </p:txBody>
      </p:sp>
      <p:sp>
        <p:nvSpPr>
          <p:cNvPr id="17" name="Text 15"/>
          <p:cNvSpPr/>
          <p:nvPr/>
        </p:nvSpPr>
        <p:spPr>
          <a:xfrm>
            <a:off x="573286" y="3171974"/>
            <a:ext cx="2390165" cy="17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Desintermediación masiva</a:t>
            </a:r>
            <a:endParaRPr lang="en-US" sz="864" dirty="0"/>
          </a:p>
        </p:txBody>
      </p:sp>
      <p:sp>
        <p:nvSpPr>
          <p:cNvPr id="18" name="Text 16"/>
          <p:cNvSpPr/>
          <p:nvPr/>
        </p:nvSpPr>
        <p:spPr>
          <a:xfrm>
            <a:off x="573286" y="3347442"/>
            <a:ext cx="2390165" cy="17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Guerra de precios</a:t>
            </a:r>
            <a:endParaRPr lang="en-US" sz="864" dirty="0"/>
          </a:p>
        </p:txBody>
      </p:sp>
      <p:sp>
        <p:nvSpPr>
          <p:cNvPr id="19" name="Text 17"/>
          <p:cNvSpPr/>
          <p:nvPr/>
        </p:nvSpPr>
        <p:spPr>
          <a:xfrm>
            <a:off x="573286" y="3522911"/>
            <a:ext cx="2390165" cy="17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Sin control de calidad</a:t>
            </a:r>
            <a:endParaRPr lang="en-US" sz="864" dirty="0"/>
          </a:p>
        </p:txBody>
      </p:sp>
      <p:sp>
        <p:nvSpPr>
          <p:cNvPr id="20" name="Text 18"/>
          <p:cNvSpPr/>
          <p:nvPr/>
        </p:nvSpPr>
        <p:spPr>
          <a:xfrm>
            <a:off x="3400276" y="2375148"/>
            <a:ext cx="1845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🏢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3657451" y="2304306"/>
            <a:ext cx="816102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Servicio Puro</a:t>
            </a:r>
            <a:endParaRPr lang="en-US" sz="984" dirty="0"/>
          </a:p>
        </p:txBody>
      </p:sp>
      <p:sp>
        <p:nvSpPr>
          <p:cNvPr id="22" name="Text 20"/>
          <p:cNvSpPr/>
          <p:nvPr/>
        </p:nvSpPr>
        <p:spPr>
          <a:xfrm>
            <a:off x="3400276" y="2804220"/>
            <a:ext cx="2390165" cy="17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Técnicos contratados, laboratorio propio.</a:t>
            </a:r>
            <a:endParaRPr lang="en-US" sz="864" dirty="0"/>
          </a:p>
        </p:txBody>
      </p:sp>
      <p:sp>
        <p:nvSpPr>
          <p:cNvPr id="23" name="Text 21"/>
          <p:cNvSpPr/>
          <p:nvPr/>
        </p:nvSpPr>
        <p:spPr>
          <a:xfrm>
            <a:off x="3400276" y="3171974"/>
            <a:ext cx="2390165" cy="17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Calidad controlada</a:t>
            </a:r>
            <a:endParaRPr lang="en-US" sz="864" dirty="0"/>
          </a:p>
        </p:txBody>
      </p:sp>
      <p:sp>
        <p:nvSpPr>
          <p:cNvPr id="24" name="Text 22"/>
          <p:cNvSpPr/>
          <p:nvPr/>
        </p:nvSpPr>
        <p:spPr>
          <a:xfrm>
            <a:off x="3400276" y="3347442"/>
            <a:ext cx="2390165" cy="17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USD 440K+ antes de ingresos</a:t>
            </a:r>
            <a:endParaRPr lang="en-US" sz="864" dirty="0"/>
          </a:p>
        </p:txBody>
      </p:sp>
      <p:sp>
        <p:nvSpPr>
          <p:cNvPr id="25" name="Text 23"/>
          <p:cNvSpPr/>
          <p:nvPr/>
        </p:nvSpPr>
        <p:spPr>
          <a:xfrm>
            <a:off x="3400276" y="3522911"/>
            <a:ext cx="2390165" cy="17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No escala sin capital masivo</a:t>
            </a:r>
            <a:endParaRPr lang="en-US" sz="864" dirty="0"/>
          </a:p>
        </p:txBody>
      </p:sp>
      <p:sp>
        <p:nvSpPr>
          <p:cNvPr id="26" name="Text 24"/>
          <p:cNvSpPr/>
          <p:nvPr/>
        </p:nvSpPr>
        <p:spPr>
          <a:xfrm>
            <a:off x="6227266" y="2375148"/>
            <a:ext cx="1845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6484441" y="2304306"/>
            <a:ext cx="152533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Servicio Autogestionado</a:t>
            </a:r>
            <a:endParaRPr lang="en-US" sz="984" dirty="0"/>
          </a:p>
        </p:txBody>
      </p:sp>
      <p:sp>
        <p:nvSpPr>
          <p:cNvPr id="28" name="Text 26"/>
          <p:cNvSpPr/>
          <p:nvPr/>
        </p:nvSpPr>
        <p:spPr>
          <a:xfrm>
            <a:off x="6227266" y="2804220"/>
            <a:ext cx="2343448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Fauchard orquesta técnicos independientes.</a:t>
            </a:r>
            <a:endParaRPr lang="en-US" sz="864" dirty="0"/>
          </a:p>
        </p:txBody>
      </p:sp>
      <p:sp>
        <p:nvSpPr>
          <p:cNvPr id="29" name="Text 27"/>
          <p:cNvSpPr/>
          <p:nvPr/>
        </p:nvSpPr>
        <p:spPr>
          <a:xfrm>
            <a:off x="6227266" y="3347442"/>
            <a:ext cx="2390317" cy="17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Sin desintermediación posible</a:t>
            </a:r>
            <a:endParaRPr lang="en-US" sz="864" dirty="0"/>
          </a:p>
        </p:txBody>
      </p:sp>
      <p:sp>
        <p:nvSpPr>
          <p:cNvPr id="30" name="Text 28"/>
          <p:cNvSpPr/>
          <p:nvPr/>
        </p:nvSpPr>
        <p:spPr>
          <a:xfrm>
            <a:off x="6227266" y="3522911"/>
            <a:ext cx="2390317" cy="17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Escala sin costos fijos</a:t>
            </a:r>
            <a:endParaRPr lang="en-US" sz="864" dirty="0"/>
          </a:p>
        </p:txBody>
      </p:sp>
      <p:sp>
        <p:nvSpPr>
          <p:cNvPr id="31" name="Text 29"/>
          <p:cNvSpPr/>
          <p:nvPr/>
        </p:nvSpPr>
        <p:spPr>
          <a:xfrm>
            <a:off x="6227266" y="3698379"/>
            <a:ext cx="2390317" cy="17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2"/>
              </a:lnSpc>
              <a:buNone/>
            </a:pPr>
            <a:r>
              <a:rPr lang="en-US" sz="864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Dentista no gestiona nada</a:t>
            </a:r>
            <a:endParaRPr lang="en-US" sz="8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180" y="1896963"/>
            <a:ext cx="4114800" cy="1254472"/>
          </a:xfrm>
          <a:prstGeom prst="roundRect">
            <a:avLst>
              <a:gd name="adj" fmla="val 102048"/>
            </a:avLst>
          </a:prstGeom>
          <a:solidFill>
            <a:srgbClr val="F87171">
              <a:alpha val="4000"/>
            </a:srgbClr>
          </a:solidFill>
          <a:ln w="9525">
            <a:solidFill>
              <a:srgbClr val="F8717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32871" y="1896963"/>
            <a:ext cx="4114949" cy="1254472"/>
          </a:xfrm>
          <a:prstGeom prst="roundRect">
            <a:avLst>
              <a:gd name="adj" fmla="val 102048"/>
            </a:avLst>
          </a:prstGeom>
          <a:solidFill>
            <a:srgbClr val="F87171">
              <a:alpha val="4000"/>
            </a:srgbClr>
          </a:solidFill>
          <a:ln w="9525">
            <a:solidFill>
              <a:srgbClr val="F8717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6180" y="3273326"/>
            <a:ext cx="4114800" cy="972592"/>
          </a:xfrm>
          <a:prstGeom prst="roundRect">
            <a:avLst>
              <a:gd name="adj" fmla="val 131624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32871" y="3273326"/>
            <a:ext cx="4114949" cy="972592"/>
          </a:xfrm>
          <a:prstGeom prst="roundRect">
            <a:avLst>
              <a:gd name="adj" fmla="val 131624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6180" y="1006673"/>
            <a:ext cx="252603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🏪</a:t>
            </a:r>
            <a:endParaRPr lang="en-US" sz="1920" dirty="0"/>
          </a:p>
        </p:txBody>
      </p:sp>
      <p:sp>
        <p:nvSpPr>
          <p:cNvPr id="7" name="Text 5"/>
          <p:cNvSpPr/>
          <p:nvPr/>
        </p:nvSpPr>
        <p:spPr>
          <a:xfrm>
            <a:off x="750391" y="897434"/>
            <a:ext cx="2020824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A — Descartado</a:t>
            </a:r>
            <a:endParaRPr lang="en-US" sz="756" dirty="0"/>
          </a:p>
        </p:txBody>
      </p:sp>
      <p:sp>
        <p:nvSpPr>
          <p:cNvPr id="8" name="Text 6"/>
          <p:cNvSpPr/>
          <p:nvPr/>
        </p:nvSpPr>
        <p:spPr>
          <a:xfrm>
            <a:off x="750391" y="1047304"/>
            <a:ext cx="2020824" cy="43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20"/>
              </a:lnSpc>
              <a:buNone/>
            </a:pPr>
            <a:r>
              <a:rPr lang="en-US" sz="2280" dirty="0">
                <a:solidFill>
                  <a:srgbClr val="F8717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Marketplace Abierto</a:t>
            </a:r>
            <a:endParaRPr lang="en-US" sz="2280" dirty="0"/>
          </a:p>
        </p:txBody>
      </p:sp>
      <p:sp>
        <p:nvSpPr>
          <p:cNvPr id="9" name="Text 7"/>
          <p:cNvSpPr/>
          <p:nvPr/>
        </p:nvSpPr>
        <p:spPr>
          <a:xfrm>
            <a:off x="396180" y="1596033"/>
            <a:ext cx="8518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plataforma actúa como directorio: publica perfiles de técnicos, cobra comisión y deja que dentistas y técnicos se entiendan solos.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0366" y="2028379"/>
            <a:ext cx="3882557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💥 Desintermediación inevitable</a:t>
            </a:r>
            <a:endParaRPr lang="en-US" sz="768" dirty="0"/>
          </a:p>
        </p:txBody>
      </p:sp>
      <p:sp>
        <p:nvSpPr>
          <p:cNvPr id="11" name="Text 9"/>
          <p:cNvSpPr/>
          <p:nvPr/>
        </p:nvSpPr>
        <p:spPr>
          <a:xfrm>
            <a:off x="550366" y="2235398"/>
            <a:ext cx="3806428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1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Tras 2–3 trabajos, dentista y técnico operan fuera de la plataforma. En marketplaces B2B este patrón es la vulnerabilidad estructural documentada como el "talón de Aquiles" del modelo plataforma.</a:t>
            </a:r>
            <a:endParaRPr lang="en-US" sz="852" dirty="0"/>
          </a:p>
        </p:txBody>
      </p:sp>
      <p:sp>
        <p:nvSpPr>
          <p:cNvPr id="12" name="Text 10"/>
          <p:cNvSpPr/>
          <p:nvPr/>
        </p:nvSpPr>
        <p:spPr>
          <a:xfrm>
            <a:off x="4787057" y="2028379"/>
            <a:ext cx="3882708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💥 "Rich get richer" — técnicos nuevos invisibles</a:t>
            </a:r>
            <a:endParaRPr lang="en-US" sz="768" dirty="0"/>
          </a:p>
        </p:txBody>
      </p:sp>
      <p:sp>
        <p:nvSpPr>
          <p:cNvPr id="13" name="Text 11"/>
          <p:cNvSpPr/>
          <p:nvPr/>
        </p:nvSpPr>
        <p:spPr>
          <a:xfrm>
            <a:off x="4787057" y="2235398"/>
            <a:ext cx="3806577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1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algoritmos de ranking favorecen a técnicos con más reseñas. Los nuevos no reciben trabajo y abandonan. El 20% acapara el volumen. Documentado en freelance marketplaces en investigación de Wharton.</a:t>
            </a:r>
            <a:endParaRPr lang="en-US" sz="852" dirty="0"/>
          </a:p>
        </p:txBody>
      </p:sp>
      <p:sp>
        <p:nvSpPr>
          <p:cNvPr id="14" name="Text 12"/>
          <p:cNvSpPr/>
          <p:nvPr/>
        </p:nvSpPr>
        <p:spPr>
          <a:xfrm>
            <a:off x="559891" y="3404741"/>
            <a:ext cx="3872841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Carga cognitiva del dentista</a:t>
            </a:r>
            <a:endParaRPr lang="en-US" sz="768" dirty="0"/>
          </a:p>
        </p:txBody>
      </p:sp>
      <p:sp>
        <p:nvSpPr>
          <p:cNvPr id="15" name="Text 13"/>
          <p:cNvSpPr/>
          <p:nvPr/>
        </p:nvSpPr>
        <p:spPr>
          <a:xfrm>
            <a:off x="559891" y="3611761"/>
            <a:ext cx="3796903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1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dentista tiene que leer perfiles, comparar precios, negociar plazos y hacer seguimiento. Es exactamente el problema que quiere resolver. Un marketplace transfiere la carga — lo contrario de un servicio.</a:t>
            </a:r>
            <a:endParaRPr lang="en-US" sz="852" dirty="0"/>
          </a:p>
        </p:txBody>
      </p:sp>
      <p:sp>
        <p:nvSpPr>
          <p:cNvPr id="16" name="Text 14"/>
          <p:cNvSpPr/>
          <p:nvPr/>
        </p:nvSpPr>
        <p:spPr>
          <a:xfrm>
            <a:off x="4796582" y="3404741"/>
            <a:ext cx="3872993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Lealtad al técnico, no a la marca</a:t>
            </a:r>
            <a:endParaRPr lang="en-US" sz="768" dirty="0"/>
          </a:p>
        </p:txBody>
      </p:sp>
      <p:sp>
        <p:nvSpPr>
          <p:cNvPr id="17" name="Text 15"/>
          <p:cNvSpPr/>
          <p:nvPr/>
        </p:nvSpPr>
        <p:spPr>
          <a:xfrm>
            <a:off x="4796582" y="3611761"/>
            <a:ext cx="3797052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1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dentista percibe que trabaja con </a:t>
            </a:r>
            <a:pPr indent="0" marL="0">
              <a:lnSpc>
                <a:spcPts val="1321"/>
              </a:lnSpc>
              <a:buNone/>
            </a:pPr>
            <a:r>
              <a:rPr lang="en-US" sz="852" i="1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técnico Juan</a:t>
            </a:r>
            <a:pPr indent="0" marL="0">
              <a:lnSpc>
                <a:spcPts val="1321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 con DentflowAI. Si Juan ofrece descuento directo, el dentista lo acepta. Sin ventaja competitiva sostenible.</a:t>
            </a:r>
            <a:endParaRPr lang="en-US" sz="8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180" y="1793974"/>
            <a:ext cx="4114800" cy="1444079"/>
          </a:xfrm>
          <a:prstGeom prst="roundRect">
            <a:avLst>
              <a:gd name="adj" fmla="val 88649"/>
            </a:avLst>
          </a:prstGeom>
          <a:solidFill>
            <a:srgbClr val="FBBF24">
              <a:alpha val="3000"/>
            </a:srgbClr>
          </a:solidFill>
          <a:ln w="9525">
            <a:solidFill>
              <a:srgbClr val="FBBF2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32871" y="1793974"/>
            <a:ext cx="4114949" cy="1444079"/>
          </a:xfrm>
          <a:prstGeom prst="roundRect">
            <a:avLst>
              <a:gd name="adj" fmla="val 88649"/>
            </a:avLst>
          </a:prstGeom>
          <a:solidFill>
            <a:srgbClr val="FBBF24">
              <a:alpha val="3000"/>
            </a:srgbClr>
          </a:solidFill>
          <a:ln w="9525">
            <a:solidFill>
              <a:srgbClr val="FBBF2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6180" y="3359944"/>
            <a:ext cx="4114800" cy="989112"/>
          </a:xfrm>
          <a:prstGeom prst="roundRect">
            <a:avLst>
              <a:gd name="adj" fmla="val 129425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32871" y="3359944"/>
            <a:ext cx="4114949" cy="989112"/>
          </a:xfrm>
          <a:prstGeom prst="roundRect">
            <a:avLst>
              <a:gd name="adj" fmla="val 129425"/>
            </a:avLst>
          </a:prstGeom>
          <a:solidFill>
            <a:srgbClr val="34D399">
              <a:alpha val="4000"/>
            </a:srgbClr>
          </a:solidFill>
          <a:ln w="9525">
            <a:solidFill>
              <a:srgbClr val="34D39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6180" y="903684"/>
            <a:ext cx="252603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🏢</a:t>
            </a:r>
            <a:endParaRPr lang="en-US" sz="1920" dirty="0"/>
          </a:p>
        </p:txBody>
      </p:sp>
      <p:sp>
        <p:nvSpPr>
          <p:cNvPr id="7" name="Text 5"/>
          <p:cNvSpPr/>
          <p:nvPr/>
        </p:nvSpPr>
        <p:spPr>
          <a:xfrm>
            <a:off x="750391" y="794445"/>
            <a:ext cx="3546158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B — Inviable</a:t>
            </a:r>
            <a:endParaRPr lang="en-US" sz="756" dirty="0"/>
          </a:p>
        </p:txBody>
      </p:sp>
      <p:sp>
        <p:nvSpPr>
          <p:cNvPr id="8" name="Text 6"/>
          <p:cNvSpPr/>
          <p:nvPr/>
        </p:nvSpPr>
        <p:spPr>
          <a:xfrm>
            <a:off x="750391" y="944314"/>
            <a:ext cx="3546158" cy="43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20"/>
              </a:lnSpc>
              <a:buNone/>
            </a:pPr>
            <a:r>
              <a:rPr lang="en-US" sz="2280" dirty="0">
                <a:solidFill>
                  <a:srgbClr val="FBBF2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Servicio Puro — Empleados Propios</a:t>
            </a:r>
            <a:endParaRPr lang="en-US" sz="2280" dirty="0"/>
          </a:p>
        </p:txBody>
      </p:sp>
      <p:sp>
        <p:nvSpPr>
          <p:cNvPr id="9" name="Text 7"/>
          <p:cNvSpPr/>
          <p:nvPr/>
        </p:nvSpPr>
        <p:spPr>
          <a:xfrm>
            <a:off x="396180" y="1493044"/>
            <a:ext cx="8518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DentflowAI contrata técnicos como empleados, monta laboratorio propio y entrega el servicio directamente.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0366" y="1925389"/>
            <a:ext cx="3882557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💸 Costos insostenibles</a:t>
            </a:r>
            <a:endParaRPr lang="en-US" sz="768" dirty="0"/>
          </a:p>
        </p:txBody>
      </p:sp>
      <p:sp>
        <p:nvSpPr>
          <p:cNvPr id="11" name="Text 9"/>
          <p:cNvSpPr/>
          <p:nvPr/>
        </p:nvSpPr>
        <p:spPr>
          <a:xfrm>
            <a:off x="550366" y="2132409"/>
            <a:ext cx="3806428" cy="692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3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Equipar un técnico propio implica: impresora 3D clínica </a:t>
            </a:r>
            <a:pPr indent="0" marL="0">
              <a:lnSpc>
                <a:spcPts val="1363"/>
              </a:lnSpc>
              <a:buNone/>
            </a:pPr>
            <a:r>
              <a:rPr lang="en-US" sz="852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 20–150K</a:t>
            </a:r>
            <a:pPr indent="0" marL="0">
              <a:lnSpc>
                <a:spcPts val="1363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horno de sinterización, escáner, software CAD/CAM, espacio físico, sueldo y previsión. Startup mínimo estimado en </a:t>
            </a:r>
            <a:pPr indent="0" marL="0">
              <a:lnSpc>
                <a:spcPts val="1363"/>
              </a:lnSpc>
              <a:buNone/>
            </a:pPr>
            <a:r>
              <a:rPr lang="en-US" sz="852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 440K</a:t>
            </a:r>
            <a:pPr indent="0" marL="0">
              <a:lnSpc>
                <a:spcPts val="1363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antes de generar ingresos.</a:t>
            </a:r>
            <a:endParaRPr lang="en-US" sz="852" dirty="0"/>
          </a:p>
        </p:txBody>
      </p:sp>
      <p:sp>
        <p:nvSpPr>
          <p:cNvPr id="12" name="Text 10"/>
          <p:cNvSpPr/>
          <p:nvPr/>
        </p:nvSpPr>
        <p:spPr>
          <a:xfrm>
            <a:off x="4787057" y="1925389"/>
            <a:ext cx="3882708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 Sin escalabilidad real</a:t>
            </a:r>
            <a:endParaRPr lang="en-US" sz="768" dirty="0"/>
          </a:p>
        </p:txBody>
      </p:sp>
      <p:sp>
        <p:nvSpPr>
          <p:cNvPr id="13" name="Text 11"/>
          <p:cNvSpPr/>
          <p:nvPr/>
        </p:nvSpPr>
        <p:spPr>
          <a:xfrm>
            <a:off x="4787057" y="2132409"/>
            <a:ext cx="3806577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3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Duplicar capacidad = duplicar técnicos, equipos y espacio. Cada unidad de crecimiento requiere inversión de capital proporcional. No puede competir en costo con laboratorios que ya amortizaron su equipo.</a:t>
            </a:r>
            <a:endParaRPr lang="en-US" sz="852" dirty="0"/>
          </a:p>
        </p:txBody>
      </p:sp>
      <p:sp>
        <p:nvSpPr>
          <p:cNvPr id="14" name="Text 12"/>
          <p:cNvSpPr/>
          <p:nvPr/>
        </p:nvSpPr>
        <p:spPr>
          <a:xfrm>
            <a:off x="559891" y="3491359"/>
            <a:ext cx="3872841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Expansión territorial costosa</a:t>
            </a:r>
            <a:endParaRPr lang="en-US" sz="768" dirty="0"/>
          </a:p>
        </p:txBody>
      </p:sp>
      <p:sp>
        <p:nvSpPr>
          <p:cNvPr id="15" name="Text 13"/>
          <p:cNvSpPr/>
          <p:nvPr/>
        </p:nvSpPr>
        <p:spPr>
          <a:xfrm>
            <a:off x="559891" y="3698379"/>
            <a:ext cx="3796903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3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Atender otras ciudades requiere abrir laboratorios físicos. No es un problema de software sino de infraestructura física que se multiplica con cada nueva geografía.</a:t>
            </a:r>
            <a:endParaRPr lang="en-US" sz="852" dirty="0"/>
          </a:p>
        </p:txBody>
      </p:sp>
      <p:sp>
        <p:nvSpPr>
          <p:cNvPr id="16" name="Text 14"/>
          <p:cNvSpPr/>
          <p:nvPr/>
        </p:nvSpPr>
        <p:spPr>
          <a:xfrm>
            <a:off x="4787057" y="3491359"/>
            <a:ext cx="3882708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Lo único rescatable</a:t>
            </a:r>
            <a:endParaRPr lang="en-US" sz="768" dirty="0"/>
          </a:p>
        </p:txBody>
      </p:sp>
      <p:sp>
        <p:nvSpPr>
          <p:cNvPr id="17" name="Text 15"/>
          <p:cNvSpPr/>
          <p:nvPr/>
        </p:nvSpPr>
        <p:spPr>
          <a:xfrm>
            <a:off x="4787057" y="3698379"/>
            <a:ext cx="3806577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3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total de calidad y confianza en la marca. </a:t>
            </a:r>
            <a:pPr indent="0" marL="0">
              <a:lnSpc>
                <a:spcPts val="1363"/>
              </a:lnSpc>
              <a:buNone/>
            </a:pPr>
            <a:r>
              <a:rPr lang="en-US" sz="852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Fauchard preserva exactamente estas ventajas sin ninguno de los costos fijos.</a:t>
            </a:r>
            <a:endParaRPr lang="en-US" sz="8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180" y="2194471"/>
            <a:ext cx="4114800" cy="816025"/>
          </a:xfrm>
          <a:prstGeom prst="roundRect">
            <a:avLst>
              <a:gd name="adj" fmla="val 156878"/>
            </a:avLst>
          </a:prstGeom>
          <a:solidFill>
            <a:srgbClr val="6282F0">
              <a:alpha val="5000"/>
            </a:srgbClr>
          </a:solidFill>
          <a:ln w="9525">
            <a:solidFill>
              <a:srgbClr val="6282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32871" y="2194471"/>
            <a:ext cx="4114949" cy="816025"/>
          </a:xfrm>
          <a:prstGeom prst="roundRect">
            <a:avLst>
              <a:gd name="adj" fmla="val 156878"/>
            </a:avLst>
          </a:prstGeom>
          <a:solidFill>
            <a:srgbClr val="6282F0">
              <a:alpha val="5000"/>
            </a:srgbClr>
          </a:solidFill>
          <a:ln w="9525">
            <a:solidFill>
              <a:srgbClr val="6282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6180" y="3132386"/>
            <a:ext cx="4114800" cy="816025"/>
          </a:xfrm>
          <a:prstGeom prst="roundRect">
            <a:avLst>
              <a:gd name="adj" fmla="val 156878"/>
            </a:avLst>
          </a:prstGeom>
          <a:solidFill>
            <a:srgbClr val="6282F0">
              <a:alpha val="5000"/>
            </a:srgbClr>
          </a:solidFill>
          <a:ln w="9525">
            <a:solidFill>
              <a:srgbClr val="6282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32871" y="3132386"/>
            <a:ext cx="4114949" cy="816025"/>
          </a:xfrm>
          <a:prstGeom prst="roundRect">
            <a:avLst>
              <a:gd name="adj" fmla="val 156878"/>
            </a:avLst>
          </a:prstGeom>
          <a:solidFill>
            <a:srgbClr val="6282F0">
              <a:alpha val="5000"/>
            </a:srgbClr>
          </a:solidFill>
          <a:ln w="9525">
            <a:solidFill>
              <a:srgbClr val="6282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6180" y="1304181"/>
            <a:ext cx="252603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1920" dirty="0"/>
          </a:p>
        </p:txBody>
      </p:sp>
      <p:sp>
        <p:nvSpPr>
          <p:cNvPr id="7" name="Text 5"/>
          <p:cNvSpPr/>
          <p:nvPr/>
        </p:nvSpPr>
        <p:spPr>
          <a:xfrm>
            <a:off x="750391" y="1194941"/>
            <a:ext cx="4099941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C — El Elegido</a:t>
            </a:r>
            <a:endParaRPr lang="en-US" sz="756" dirty="0"/>
          </a:p>
        </p:txBody>
      </p:sp>
      <p:sp>
        <p:nvSpPr>
          <p:cNvPr id="8" name="Text 6"/>
          <p:cNvSpPr/>
          <p:nvPr/>
        </p:nvSpPr>
        <p:spPr>
          <a:xfrm>
            <a:off x="750391" y="1344811"/>
            <a:ext cx="4099941" cy="43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20"/>
              </a:lnSpc>
              <a:buNone/>
            </a:pPr>
            <a:r>
              <a:rPr lang="en-US" sz="2280" dirty="0">
                <a:solidFill>
                  <a:srgbClr val="34D39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Servicio Autogestionado · Motor Fauchard</a:t>
            </a:r>
            <a:endParaRPr lang="en-US" sz="2280" dirty="0"/>
          </a:p>
        </p:txBody>
      </p:sp>
      <p:sp>
        <p:nvSpPr>
          <p:cNvPr id="9" name="Text 7"/>
          <p:cNvSpPr/>
          <p:nvPr/>
        </p:nvSpPr>
        <p:spPr>
          <a:xfrm>
            <a:off x="396180" y="1893540"/>
            <a:ext cx="8518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DentflowAI no contrata técnicos ni crea un directorio. Fauchard orquesta técnicos independientes de forma invisible, equitativa y escalable.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0366" y="2325886"/>
            <a:ext cx="3882557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Desintermediación eliminada por diseño</a:t>
            </a:r>
            <a:endParaRPr lang="en-US" sz="768" dirty="0"/>
          </a:p>
        </p:txBody>
      </p:sp>
      <p:sp>
        <p:nvSpPr>
          <p:cNvPr id="11" name="Text 9"/>
          <p:cNvSpPr/>
          <p:nvPr/>
        </p:nvSpPr>
        <p:spPr>
          <a:xfrm>
            <a:off x="550366" y="2532906"/>
            <a:ext cx="3806428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3"/>
              </a:lnSpc>
              <a:buNone/>
            </a:pPr>
            <a:r>
              <a:rPr lang="en-US" sz="852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dentista nunca sabe quién es el técnico.</a:t>
            </a:r>
            <a:pPr indent="0" marL="0">
              <a:lnSpc>
                <a:spcPts val="1363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ContactGuard bloquea datos de contacto en tiempo real. Sin identidad no hay relación directa posible.</a:t>
            </a:r>
            <a:endParaRPr lang="en-US" sz="852" dirty="0"/>
          </a:p>
        </p:txBody>
      </p:sp>
      <p:sp>
        <p:nvSpPr>
          <p:cNvPr id="12" name="Text 10"/>
          <p:cNvSpPr/>
          <p:nvPr/>
        </p:nvSpPr>
        <p:spPr>
          <a:xfrm>
            <a:off x="4787057" y="2325886"/>
            <a:ext cx="3882708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 Escala sin costos fijos</a:t>
            </a:r>
            <a:endParaRPr lang="en-US" sz="768" dirty="0"/>
          </a:p>
        </p:txBody>
      </p:sp>
      <p:sp>
        <p:nvSpPr>
          <p:cNvPr id="13" name="Text 11"/>
          <p:cNvSpPr/>
          <p:nvPr/>
        </p:nvSpPr>
        <p:spPr>
          <a:xfrm>
            <a:off x="4787057" y="2532906"/>
            <a:ext cx="3806577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3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técnicos son independientes y ya tienen sus equipos. </a:t>
            </a:r>
            <a:pPr indent="0" marL="0">
              <a:lnSpc>
                <a:spcPts val="1363"/>
              </a:lnSpc>
              <a:buNone/>
            </a:pPr>
            <a:r>
              <a:rPr lang="en-US" sz="852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Expansión geográfica = sumar técnicos locales</a:t>
            </a:r>
            <a:pPr indent="0" marL="0">
              <a:lnSpc>
                <a:spcPts val="1363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 abrir laboratorios.</a:t>
            </a:r>
            <a:endParaRPr lang="en-US" sz="852" dirty="0"/>
          </a:p>
        </p:txBody>
      </p:sp>
      <p:sp>
        <p:nvSpPr>
          <p:cNvPr id="14" name="Text 12"/>
          <p:cNvSpPr/>
          <p:nvPr/>
        </p:nvSpPr>
        <p:spPr>
          <a:xfrm>
            <a:off x="550366" y="3263801"/>
            <a:ext cx="3882557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⚖️ Equidad distribuida algorítmicamente</a:t>
            </a:r>
            <a:endParaRPr lang="en-US" sz="768" dirty="0"/>
          </a:p>
        </p:txBody>
      </p:sp>
      <p:sp>
        <p:nvSpPr>
          <p:cNvPr id="15" name="Text 13"/>
          <p:cNvSpPr/>
          <p:nvPr/>
        </p:nvSpPr>
        <p:spPr>
          <a:xfrm>
            <a:off x="550366" y="3470821"/>
            <a:ext cx="3806428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3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Fauchard distribuye según capacidad técnica, carga actual y criterios de equidad programables. Los técnicos nuevos también crecen.</a:t>
            </a:r>
            <a:endParaRPr lang="en-US" sz="852" dirty="0"/>
          </a:p>
        </p:txBody>
      </p:sp>
      <p:sp>
        <p:nvSpPr>
          <p:cNvPr id="16" name="Text 14"/>
          <p:cNvSpPr/>
          <p:nvPr/>
        </p:nvSpPr>
        <p:spPr>
          <a:xfrm>
            <a:off x="4787057" y="3263801"/>
            <a:ext cx="3882708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sz="768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 Precios libres + margen controlado</a:t>
            </a:r>
            <a:endParaRPr lang="en-US" sz="768" dirty="0"/>
          </a:p>
        </p:txBody>
      </p:sp>
      <p:sp>
        <p:nvSpPr>
          <p:cNvPr id="17" name="Text 15"/>
          <p:cNvSpPr/>
          <p:nvPr/>
        </p:nvSpPr>
        <p:spPr>
          <a:xfrm>
            <a:off x="4787057" y="3470821"/>
            <a:ext cx="3806577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3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técnico oferta con sus precios. El dentista elige en panel anónimo. </a:t>
            </a:r>
            <a:pPr indent="0" marL="0">
              <a:lnSpc>
                <a:spcPts val="1363"/>
              </a:lnSpc>
              <a:buNone/>
            </a:pPr>
            <a:r>
              <a:rPr lang="en-US" sz="852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DentflowAI cobra su margen sobre cada transacción.</a:t>
            </a:r>
            <a:endParaRPr lang="en-US" sz="8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180" y="1847701"/>
            <a:ext cx="8351639" cy="2231827"/>
          </a:xfrm>
          <a:prstGeom prst="roundRect">
            <a:avLst>
              <a:gd name="adj" fmla="val 49165"/>
            </a:avLst>
          </a:prstGeom>
          <a:noFill/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5705" y="1857226"/>
            <a:ext cx="8332589" cy="25747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5705" y="1857226"/>
            <a:ext cx="2308920" cy="25747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lIns="106680" tIns="106680" rIns="106680" bIns="106680" rtlCol="0" anchor="t">
            <a:normAutofit/>
          </a:bodyPr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Dimensión</a:t>
            </a:r>
            <a:endParaRPr lang="en-US" sz="744" dirty="0"/>
          </a:p>
        </p:txBody>
      </p:sp>
      <p:sp>
        <p:nvSpPr>
          <p:cNvPr id="5" name="Text 3"/>
          <p:cNvSpPr/>
          <p:nvPr/>
        </p:nvSpPr>
        <p:spPr>
          <a:xfrm>
            <a:off x="2714625" y="1857226"/>
            <a:ext cx="2007840" cy="25747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lIns="106680" tIns="106680" rIns="106680" bIns="106680" rtlCol="0" anchor="t">
            <a:normAutofit/>
          </a:bodyPr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🏪 Marketplace</a:t>
            </a:r>
            <a:endParaRPr lang="en-US" sz="744" dirty="0"/>
          </a:p>
        </p:txBody>
      </p:sp>
      <p:sp>
        <p:nvSpPr>
          <p:cNvPr id="6" name="Text 4"/>
          <p:cNvSpPr/>
          <p:nvPr/>
        </p:nvSpPr>
        <p:spPr>
          <a:xfrm>
            <a:off x="4722465" y="1857226"/>
            <a:ext cx="2007840" cy="25747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lIns="106680" tIns="106680" rIns="106680" bIns="106680" rtlCol="0" anchor="t">
            <a:normAutofit/>
          </a:bodyPr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🏢 Serv. Puro</a:t>
            </a:r>
            <a:endParaRPr lang="en-US" sz="744" dirty="0"/>
          </a:p>
        </p:txBody>
      </p:sp>
      <p:sp>
        <p:nvSpPr>
          <p:cNvPr id="7" name="Text 5"/>
          <p:cNvSpPr/>
          <p:nvPr/>
        </p:nvSpPr>
        <p:spPr>
          <a:xfrm>
            <a:off x="6730305" y="1857226"/>
            <a:ext cx="2007840" cy="25747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lIns="106680" tIns="106680" rIns="106680" bIns="106680" rtlCol="0" anchor="t">
            <a:normAutofit/>
          </a:bodyPr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Fauchard ✓</a:t>
            </a:r>
            <a:endParaRPr lang="en-US" sz="744" dirty="0"/>
          </a:p>
        </p:txBody>
      </p:sp>
      <p:sp>
        <p:nvSpPr>
          <p:cNvPr id="8" name="Text 6"/>
          <p:cNvSpPr/>
          <p:nvPr/>
        </p:nvSpPr>
        <p:spPr>
          <a:xfrm>
            <a:off x="396180" y="1063823"/>
            <a:ext cx="8518672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Comparativa</a:t>
            </a:r>
            <a:endParaRPr lang="en-US" sz="756" dirty="0"/>
          </a:p>
        </p:txBody>
      </p:sp>
      <p:sp>
        <p:nvSpPr>
          <p:cNvPr id="9" name="Text 7"/>
          <p:cNvSpPr/>
          <p:nvPr/>
        </p:nvSpPr>
        <p:spPr>
          <a:xfrm>
            <a:off x="396180" y="1253430"/>
            <a:ext cx="851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DCE6F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Fauchard </a:t>
            </a:r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6282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gana en todas las dimensiones críticas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05705" y="2114699"/>
            <a:ext cx="230892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Desintermediación</a:t>
            </a:r>
            <a:endParaRPr lang="en-US" sz="816" dirty="0"/>
          </a:p>
        </p:txBody>
      </p:sp>
      <p:sp>
        <p:nvSpPr>
          <p:cNvPr id="11" name="Text 9"/>
          <p:cNvSpPr/>
          <p:nvPr/>
        </p:nvSpPr>
        <p:spPr>
          <a:xfrm>
            <a:off x="2714625" y="2114699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crítico</a:t>
            </a:r>
            <a:endParaRPr lang="en-US" sz="816" dirty="0"/>
          </a:p>
        </p:txBody>
      </p:sp>
      <p:sp>
        <p:nvSpPr>
          <p:cNvPr id="12" name="Text 10"/>
          <p:cNvSpPr/>
          <p:nvPr/>
        </p:nvSpPr>
        <p:spPr>
          <a:xfrm>
            <a:off x="4722465" y="2114699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riesgo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6730305" y="2114699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Eliminada por diseño</a:t>
            </a:r>
            <a:endParaRPr lang="en-US" sz="816" dirty="0"/>
          </a:p>
        </p:txBody>
      </p:sp>
      <p:sp>
        <p:nvSpPr>
          <p:cNvPr id="14" name="Text 12"/>
          <p:cNvSpPr/>
          <p:nvPr/>
        </p:nvSpPr>
        <p:spPr>
          <a:xfrm>
            <a:off x="405705" y="2395389"/>
            <a:ext cx="230892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de escala</a:t>
            </a:r>
            <a:endParaRPr lang="en-US" sz="816" dirty="0"/>
          </a:p>
        </p:txBody>
      </p:sp>
      <p:sp>
        <p:nvSpPr>
          <p:cNvPr id="15" name="Text 13"/>
          <p:cNvSpPr/>
          <p:nvPr/>
        </p:nvSpPr>
        <p:spPr>
          <a:xfrm>
            <a:off x="2714625" y="2395389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Bajo (comisión)</a:t>
            </a:r>
            <a:endParaRPr lang="en-US" sz="816" dirty="0"/>
          </a:p>
        </p:txBody>
      </p:sp>
      <p:sp>
        <p:nvSpPr>
          <p:cNvPr id="16" name="Text 14"/>
          <p:cNvSpPr/>
          <p:nvPr/>
        </p:nvSpPr>
        <p:spPr>
          <a:xfrm>
            <a:off x="4722465" y="2395389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 440K+ inicial</a:t>
            </a:r>
            <a:endParaRPr lang="en-US" sz="816" dirty="0"/>
          </a:p>
        </p:txBody>
      </p:sp>
      <p:sp>
        <p:nvSpPr>
          <p:cNvPr id="17" name="Text 15"/>
          <p:cNvSpPr/>
          <p:nvPr/>
        </p:nvSpPr>
        <p:spPr>
          <a:xfrm>
            <a:off x="6730305" y="2395389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Bajo — sin costo fijo</a:t>
            </a:r>
            <a:endParaRPr lang="en-US" sz="816" dirty="0"/>
          </a:p>
        </p:txBody>
      </p:sp>
      <p:sp>
        <p:nvSpPr>
          <p:cNvPr id="18" name="Text 16"/>
          <p:cNvSpPr/>
          <p:nvPr/>
        </p:nvSpPr>
        <p:spPr>
          <a:xfrm>
            <a:off x="405705" y="2676079"/>
            <a:ext cx="230892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Experiencia dentista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2714625" y="2676079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carga cognitiva</a:t>
            </a:r>
            <a:endParaRPr lang="en-US" sz="816" dirty="0"/>
          </a:p>
        </p:txBody>
      </p:sp>
      <p:sp>
        <p:nvSpPr>
          <p:cNvPr id="20" name="Text 18"/>
          <p:cNvSpPr/>
          <p:nvPr/>
        </p:nvSpPr>
        <p:spPr>
          <a:xfrm>
            <a:off x="4722465" y="2676079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6730305" y="2676079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y anónima</a:t>
            </a:r>
            <a:endParaRPr lang="en-US" sz="816" dirty="0"/>
          </a:p>
        </p:txBody>
      </p:sp>
      <p:sp>
        <p:nvSpPr>
          <p:cNvPr id="22" name="Text 20"/>
          <p:cNvSpPr/>
          <p:nvPr/>
        </p:nvSpPr>
        <p:spPr>
          <a:xfrm>
            <a:off x="405705" y="2956768"/>
            <a:ext cx="230892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calidad</a:t>
            </a:r>
            <a:endParaRPr lang="en-US" sz="816" dirty="0"/>
          </a:p>
        </p:txBody>
      </p:sp>
      <p:sp>
        <p:nvSpPr>
          <p:cNvPr id="23" name="Text 21"/>
          <p:cNvSpPr/>
          <p:nvPr/>
        </p:nvSpPr>
        <p:spPr>
          <a:xfrm>
            <a:off x="2714625" y="2956768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Indirecto (reviews)</a:t>
            </a:r>
            <a:endParaRPr lang="en-US" sz="816" dirty="0"/>
          </a:p>
        </p:txBody>
      </p:sp>
      <p:sp>
        <p:nvSpPr>
          <p:cNvPr id="24" name="Text 22"/>
          <p:cNvSpPr/>
          <p:nvPr/>
        </p:nvSpPr>
        <p:spPr>
          <a:xfrm>
            <a:off x="4722465" y="2956768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816" dirty="0"/>
          </a:p>
        </p:txBody>
      </p:sp>
      <p:sp>
        <p:nvSpPr>
          <p:cNvPr id="25" name="Text 23"/>
          <p:cNvSpPr/>
          <p:nvPr/>
        </p:nvSpPr>
        <p:spPr>
          <a:xfrm>
            <a:off x="6730305" y="2956768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 vía Fauchard</a:t>
            </a:r>
            <a:endParaRPr lang="en-US" sz="816" dirty="0"/>
          </a:p>
        </p:txBody>
      </p:sp>
      <p:sp>
        <p:nvSpPr>
          <p:cNvPr id="26" name="Text 24"/>
          <p:cNvSpPr/>
          <p:nvPr/>
        </p:nvSpPr>
        <p:spPr>
          <a:xfrm>
            <a:off x="405705" y="3237458"/>
            <a:ext cx="230892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Equidad técnicos</a:t>
            </a:r>
            <a:endParaRPr lang="en-US" sz="816" dirty="0"/>
          </a:p>
        </p:txBody>
      </p:sp>
      <p:sp>
        <p:nvSpPr>
          <p:cNvPr id="27" name="Text 25"/>
          <p:cNvSpPr/>
          <p:nvPr/>
        </p:nvSpPr>
        <p:spPr>
          <a:xfrm>
            <a:off x="2714625" y="3237458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"Rich get richer"</a:t>
            </a:r>
            <a:endParaRPr lang="en-US" sz="816" dirty="0"/>
          </a:p>
        </p:txBody>
      </p:sp>
      <p:sp>
        <p:nvSpPr>
          <p:cNvPr id="28" name="Text 26"/>
          <p:cNvSpPr/>
          <p:nvPr/>
        </p:nvSpPr>
        <p:spPr>
          <a:xfrm>
            <a:off x="4722465" y="3237458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 del empleador</a:t>
            </a:r>
            <a:endParaRPr lang="en-US" sz="816" dirty="0"/>
          </a:p>
        </p:txBody>
      </p:sp>
      <p:sp>
        <p:nvSpPr>
          <p:cNvPr id="29" name="Text 27"/>
          <p:cNvSpPr/>
          <p:nvPr/>
        </p:nvSpPr>
        <p:spPr>
          <a:xfrm>
            <a:off x="6730305" y="3237458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Diseñada — programable</a:t>
            </a:r>
            <a:endParaRPr lang="en-US" sz="816" dirty="0"/>
          </a:p>
        </p:txBody>
      </p:sp>
      <p:sp>
        <p:nvSpPr>
          <p:cNvPr id="30" name="Text 28"/>
          <p:cNvSpPr/>
          <p:nvPr/>
        </p:nvSpPr>
        <p:spPr>
          <a:xfrm>
            <a:off x="405705" y="3518148"/>
            <a:ext cx="230892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Barrera competitiva</a:t>
            </a:r>
            <a:endParaRPr lang="en-US" sz="816" dirty="0"/>
          </a:p>
        </p:txBody>
      </p:sp>
      <p:sp>
        <p:nvSpPr>
          <p:cNvPr id="31" name="Text 29"/>
          <p:cNvSpPr/>
          <p:nvPr/>
        </p:nvSpPr>
        <p:spPr>
          <a:xfrm>
            <a:off x="2714625" y="3518148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 — replicable</a:t>
            </a:r>
            <a:endParaRPr lang="en-US" sz="816" dirty="0"/>
          </a:p>
        </p:txBody>
      </p:sp>
      <p:sp>
        <p:nvSpPr>
          <p:cNvPr id="32" name="Text 30"/>
          <p:cNvSpPr/>
          <p:nvPr/>
        </p:nvSpPr>
        <p:spPr>
          <a:xfrm>
            <a:off x="4722465" y="3518148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</a:t>
            </a:r>
            <a:endParaRPr lang="en-US" sz="816" dirty="0"/>
          </a:p>
        </p:txBody>
      </p:sp>
      <p:sp>
        <p:nvSpPr>
          <p:cNvPr id="33" name="Text 31"/>
          <p:cNvSpPr/>
          <p:nvPr/>
        </p:nvSpPr>
        <p:spPr>
          <a:xfrm>
            <a:off x="6730305" y="3518148"/>
            <a:ext cx="2007840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— algoritmo propio</a:t>
            </a:r>
            <a:endParaRPr lang="en-US" sz="816" dirty="0"/>
          </a:p>
        </p:txBody>
      </p:sp>
      <p:sp>
        <p:nvSpPr>
          <p:cNvPr id="34" name="Text 32"/>
          <p:cNvSpPr/>
          <p:nvPr/>
        </p:nvSpPr>
        <p:spPr>
          <a:xfrm>
            <a:off x="405705" y="3798838"/>
            <a:ext cx="2308920" cy="271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Expansión geográfica</a:t>
            </a:r>
            <a:endParaRPr lang="en-US" sz="816" dirty="0"/>
          </a:p>
        </p:txBody>
      </p:sp>
      <p:sp>
        <p:nvSpPr>
          <p:cNvPr id="35" name="Text 33"/>
          <p:cNvSpPr/>
          <p:nvPr/>
        </p:nvSpPr>
        <p:spPr>
          <a:xfrm>
            <a:off x="2714625" y="3798838"/>
            <a:ext cx="2007840" cy="271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Posible pero frágil</a:t>
            </a:r>
            <a:endParaRPr lang="en-US" sz="816" dirty="0"/>
          </a:p>
        </p:txBody>
      </p:sp>
      <p:sp>
        <p:nvSpPr>
          <p:cNvPr id="36" name="Text 34"/>
          <p:cNvSpPr/>
          <p:nvPr/>
        </p:nvSpPr>
        <p:spPr>
          <a:xfrm>
            <a:off x="4722465" y="3798838"/>
            <a:ext cx="2007840" cy="271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Requiere lab físico</a:t>
            </a:r>
            <a:endParaRPr lang="en-US" sz="816" dirty="0"/>
          </a:p>
        </p:txBody>
      </p:sp>
      <p:sp>
        <p:nvSpPr>
          <p:cNvPr id="37" name="Text 35"/>
          <p:cNvSpPr/>
          <p:nvPr/>
        </p:nvSpPr>
        <p:spPr>
          <a:xfrm>
            <a:off x="6730305" y="3798838"/>
            <a:ext cx="2007840" cy="271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sumar técnicos locales</a:t>
            </a:r>
            <a:endParaRPr lang="en-US" sz="81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341" y="1405979"/>
            <a:ext cx="8016478" cy="559743"/>
          </a:xfrm>
          <a:prstGeom prst="roundRect">
            <a:avLst>
              <a:gd name="adj" fmla="val 228705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1341" y="2270522"/>
            <a:ext cx="8016478" cy="559743"/>
          </a:xfrm>
          <a:prstGeom prst="roundRect">
            <a:avLst>
              <a:gd name="adj" fmla="val 228705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341" y="3135064"/>
            <a:ext cx="8016478" cy="559743"/>
          </a:xfrm>
          <a:prstGeom prst="roundRect">
            <a:avLst>
              <a:gd name="adj" fmla="val 228705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341" y="3999607"/>
            <a:ext cx="8016478" cy="559743"/>
          </a:xfrm>
          <a:prstGeom prst="roundRect">
            <a:avLst>
              <a:gd name="adj" fmla="val 228705"/>
            </a:avLst>
          </a:prstGeom>
          <a:solidFill>
            <a:srgbClr val="6282F0">
              <a:alpha val="5000"/>
            </a:srgbClr>
          </a:solidFill>
          <a:ln w="9525">
            <a:solidFill>
              <a:srgbClr val="6282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6180" y="584002"/>
            <a:ext cx="8518672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Fauchard — Flujo</a:t>
            </a:r>
            <a:endParaRPr lang="en-US" sz="756" dirty="0"/>
          </a:p>
        </p:txBody>
      </p:sp>
      <p:sp>
        <p:nvSpPr>
          <p:cNvPr id="7" name="Text 5"/>
          <p:cNvSpPr/>
          <p:nvPr/>
        </p:nvSpPr>
        <p:spPr>
          <a:xfrm>
            <a:off x="396180" y="773609"/>
            <a:ext cx="851867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80"/>
              </a:lnSpc>
              <a:buNone/>
            </a:pPr>
            <a:r>
              <a:rPr lang="en-US" sz="2520" dirty="0">
                <a:solidFill>
                  <a:srgbClr val="DCE6F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Del caso al resultado: </a:t>
            </a:r>
            <a:pPr indent="0" marL="0">
              <a:lnSpc>
                <a:spcPts val="3780"/>
              </a:lnSpc>
              <a:buNone/>
            </a:pPr>
            <a:r>
              <a:rPr lang="en-US" sz="2520" dirty="0">
                <a:solidFill>
                  <a:srgbClr val="6282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todo orquestado</a:t>
            </a:r>
            <a:endParaRPr lang="en-US" sz="2520" dirty="0"/>
          </a:p>
        </p:txBody>
      </p:sp>
      <p:sp>
        <p:nvSpPr>
          <p:cNvPr id="8" name="Text 6"/>
          <p:cNvSpPr/>
          <p:nvPr/>
        </p:nvSpPr>
        <p:spPr>
          <a:xfrm>
            <a:off x="877937" y="1506885"/>
            <a:ext cx="787775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Dentista publica el caso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77937" y="1704826"/>
            <a:ext cx="7877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 de servicio, descripción clínica y archivos 3D. Fauchard toma el control desde aquí.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877937" y="2371427"/>
            <a:ext cx="787775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Fauchard filtra e invita técnicos por rondas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77937" y="2569369"/>
            <a:ext cx="7877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Evalúa capacidad técnica, equipamiento disponible, carga actual y criterios de equidad. Sin subasta pública.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877937" y="3235970"/>
            <a:ext cx="787775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Técnicos cotizan con sus propios precios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877937" y="3433911"/>
            <a:ext cx="7877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técnico oferta libremente. Para casos integrales, desglose obligatorio diseño + fabricación.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877937" y="4100513"/>
            <a:ext cx="787775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Dentista elige en panel anónimo — trabajo comienza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877937" y="4298454"/>
            <a:ext cx="7877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Comparativa de ofertas sin ver quién cotizó. DentflowAI gestiona pagos, seguimiento y entrega.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180" y="1660922"/>
            <a:ext cx="2692450" cy="2383929"/>
          </a:xfrm>
          <a:prstGeom prst="roundRect">
            <a:avLst>
              <a:gd name="adj" fmla="val 53700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25701" y="1660922"/>
            <a:ext cx="2692450" cy="2383929"/>
          </a:xfrm>
          <a:prstGeom prst="roundRect">
            <a:avLst>
              <a:gd name="adj" fmla="val 53700"/>
            </a:avLst>
          </a:prstGeom>
          <a:solidFill>
            <a:srgbClr val="6282F0">
              <a:alpha val="5000"/>
            </a:srgbClr>
          </a:solidFill>
          <a:ln w="9525">
            <a:solidFill>
              <a:srgbClr val="6282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55221" y="1660922"/>
            <a:ext cx="2692598" cy="2383929"/>
          </a:xfrm>
          <a:prstGeom prst="roundRect">
            <a:avLst>
              <a:gd name="adj" fmla="val 53700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6180" y="838944"/>
            <a:ext cx="8518672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Servicios</a:t>
            </a:r>
            <a:endParaRPr lang="en-US" sz="756" dirty="0"/>
          </a:p>
        </p:txBody>
      </p:sp>
      <p:sp>
        <p:nvSpPr>
          <p:cNvPr id="6" name="Text 4"/>
          <p:cNvSpPr/>
          <p:nvPr/>
        </p:nvSpPr>
        <p:spPr>
          <a:xfrm>
            <a:off x="396180" y="1028551"/>
            <a:ext cx="851867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80"/>
              </a:lnSpc>
              <a:buNone/>
            </a:pPr>
            <a:r>
              <a:rPr lang="en-US" sz="2520" dirty="0">
                <a:solidFill>
                  <a:srgbClr val="DCE6F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Tres tipos de caso, </a:t>
            </a:r>
            <a:pPr indent="0" marL="0">
              <a:lnSpc>
                <a:spcPts val="3780"/>
              </a:lnSpc>
              <a:buNone/>
            </a:pPr>
            <a:r>
              <a:rPr lang="en-US" sz="2520" dirty="0">
                <a:solidFill>
                  <a:srgbClr val="6282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 responsable cada uno</a:t>
            </a:r>
            <a:endParaRPr lang="en-US" sz="2520" dirty="0"/>
          </a:p>
        </p:txBody>
      </p:sp>
      <p:sp>
        <p:nvSpPr>
          <p:cNvPr id="7" name="Text 5"/>
          <p:cNvSpPr/>
          <p:nvPr/>
        </p:nvSpPr>
        <p:spPr>
          <a:xfrm>
            <a:off x="534419" y="1822847"/>
            <a:ext cx="2415972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🎨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534419" y="2302669"/>
            <a:ext cx="241597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08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Diseño</a:t>
            </a:r>
            <a:endParaRPr lang="en-US" sz="1008" dirty="0"/>
          </a:p>
        </p:txBody>
      </p:sp>
      <p:sp>
        <p:nvSpPr>
          <p:cNvPr id="9" name="Text 7"/>
          <p:cNvSpPr/>
          <p:nvPr/>
        </p:nvSpPr>
        <p:spPr>
          <a:xfrm>
            <a:off x="558105" y="2540347"/>
            <a:ext cx="2368600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Técnico entrega archivo STL. Sin fabricación física.</a:t>
            </a:r>
            <a:endParaRPr lang="en-US" sz="852" dirty="0"/>
          </a:p>
        </p:txBody>
      </p:sp>
      <p:sp>
        <p:nvSpPr>
          <p:cNvPr id="10" name="Text 8"/>
          <p:cNvSpPr/>
          <p:nvPr/>
        </p:nvSpPr>
        <p:spPr>
          <a:xfrm>
            <a:off x="558105" y="2971354"/>
            <a:ext cx="2415972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Borrador</a:t>
            </a:r>
            <a:endParaRPr lang="en-US" sz="756" dirty="0"/>
          </a:p>
        </p:txBody>
      </p:sp>
      <p:sp>
        <p:nvSpPr>
          <p:cNvPr id="11" name="Text 9"/>
          <p:cNvSpPr/>
          <p:nvPr/>
        </p:nvSpPr>
        <p:spPr>
          <a:xfrm>
            <a:off x="558105" y="3153668"/>
            <a:ext cx="2415972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En evaluación</a:t>
            </a:r>
            <a:endParaRPr lang="en-US" sz="756" dirty="0"/>
          </a:p>
        </p:txBody>
      </p:sp>
      <p:sp>
        <p:nvSpPr>
          <p:cNvPr id="12" name="Text 10"/>
          <p:cNvSpPr/>
          <p:nvPr/>
        </p:nvSpPr>
        <p:spPr>
          <a:xfrm>
            <a:off x="558105" y="3335982"/>
            <a:ext cx="2415972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En ejecución</a:t>
            </a:r>
            <a:endParaRPr lang="en-US" sz="756" dirty="0"/>
          </a:p>
        </p:txBody>
      </p:sp>
      <p:sp>
        <p:nvSpPr>
          <p:cNvPr id="13" name="Text 11"/>
          <p:cNvSpPr/>
          <p:nvPr/>
        </p:nvSpPr>
        <p:spPr>
          <a:xfrm>
            <a:off x="558105" y="3518297"/>
            <a:ext cx="2415972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En revisión</a:t>
            </a:r>
            <a:endParaRPr lang="en-US" sz="756" dirty="0"/>
          </a:p>
        </p:txBody>
      </p:sp>
      <p:sp>
        <p:nvSpPr>
          <p:cNvPr id="14" name="Text 12"/>
          <p:cNvSpPr/>
          <p:nvPr/>
        </p:nvSpPr>
        <p:spPr>
          <a:xfrm>
            <a:off x="558105" y="3700611"/>
            <a:ext cx="2415972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Completado</a:t>
            </a:r>
            <a:endParaRPr lang="en-US" sz="756" dirty="0"/>
          </a:p>
        </p:txBody>
      </p:sp>
      <p:sp>
        <p:nvSpPr>
          <p:cNvPr id="15" name="Text 13"/>
          <p:cNvSpPr/>
          <p:nvPr/>
        </p:nvSpPr>
        <p:spPr>
          <a:xfrm>
            <a:off x="3363940" y="1822847"/>
            <a:ext cx="2415972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2160" dirty="0"/>
          </a:p>
        </p:txBody>
      </p:sp>
      <p:sp>
        <p:nvSpPr>
          <p:cNvPr id="16" name="Text 14"/>
          <p:cNvSpPr/>
          <p:nvPr/>
        </p:nvSpPr>
        <p:spPr>
          <a:xfrm>
            <a:off x="3363940" y="2302669"/>
            <a:ext cx="241597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08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Fabricación</a:t>
            </a:r>
            <a:endParaRPr lang="en-US" sz="1008" dirty="0"/>
          </a:p>
        </p:txBody>
      </p:sp>
      <p:sp>
        <p:nvSpPr>
          <p:cNvPr id="17" name="Text 15"/>
          <p:cNvSpPr/>
          <p:nvPr/>
        </p:nvSpPr>
        <p:spPr>
          <a:xfrm>
            <a:off x="3387626" y="2540347"/>
            <a:ext cx="2368600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Dentista sube STL propio. Técnico fabrica y despacha.</a:t>
            </a:r>
            <a:endParaRPr lang="en-US" sz="852" dirty="0"/>
          </a:p>
        </p:txBody>
      </p:sp>
      <p:sp>
        <p:nvSpPr>
          <p:cNvPr id="18" name="Text 16"/>
          <p:cNvSpPr/>
          <p:nvPr/>
        </p:nvSpPr>
        <p:spPr>
          <a:xfrm>
            <a:off x="3387626" y="2971354"/>
            <a:ext cx="2415972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Borrador + STL</a:t>
            </a:r>
            <a:endParaRPr lang="en-US" sz="756" dirty="0"/>
          </a:p>
        </p:txBody>
      </p:sp>
      <p:sp>
        <p:nvSpPr>
          <p:cNvPr id="19" name="Text 17"/>
          <p:cNvSpPr/>
          <p:nvPr/>
        </p:nvSpPr>
        <p:spPr>
          <a:xfrm>
            <a:off x="3387626" y="3153668"/>
            <a:ext cx="2415972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En evaluación</a:t>
            </a:r>
            <a:endParaRPr lang="en-US" sz="756" dirty="0"/>
          </a:p>
        </p:txBody>
      </p:sp>
      <p:sp>
        <p:nvSpPr>
          <p:cNvPr id="20" name="Text 18"/>
          <p:cNvSpPr/>
          <p:nvPr/>
        </p:nvSpPr>
        <p:spPr>
          <a:xfrm>
            <a:off x="3387626" y="3335982"/>
            <a:ext cx="2415972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En fabricación</a:t>
            </a:r>
            <a:endParaRPr lang="en-US" sz="756" dirty="0"/>
          </a:p>
        </p:txBody>
      </p:sp>
      <p:sp>
        <p:nvSpPr>
          <p:cNvPr id="21" name="Text 19"/>
          <p:cNvSpPr/>
          <p:nvPr/>
        </p:nvSpPr>
        <p:spPr>
          <a:xfrm>
            <a:off x="3387626" y="3518297"/>
            <a:ext cx="2415972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Despachado</a:t>
            </a:r>
            <a:endParaRPr lang="en-US" sz="756" dirty="0"/>
          </a:p>
        </p:txBody>
      </p:sp>
      <p:sp>
        <p:nvSpPr>
          <p:cNvPr id="22" name="Text 20"/>
          <p:cNvSpPr/>
          <p:nvPr/>
        </p:nvSpPr>
        <p:spPr>
          <a:xfrm>
            <a:off x="3387626" y="3700611"/>
            <a:ext cx="2415972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Completado</a:t>
            </a:r>
            <a:endParaRPr lang="en-US" sz="756" dirty="0"/>
          </a:p>
        </p:txBody>
      </p:sp>
      <p:sp>
        <p:nvSpPr>
          <p:cNvPr id="23" name="Text 21"/>
          <p:cNvSpPr/>
          <p:nvPr/>
        </p:nvSpPr>
        <p:spPr>
          <a:xfrm>
            <a:off x="6193459" y="1822847"/>
            <a:ext cx="241612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</a:t>
            </a:r>
            <a:endParaRPr lang="en-US" sz="2160" dirty="0"/>
          </a:p>
        </p:txBody>
      </p:sp>
      <p:sp>
        <p:nvSpPr>
          <p:cNvPr id="24" name="Text 22"/>
          <p:cNvSpPr/>
          <p:nvPr/>
        </p:nvSpPr>
        <p:spPr>
          <a:xfrm>
            <a:off x="6193459" y="2302669"/>
            <a:ext cx="2416123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08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Integral</a:t>
            </a:r>
            <a:endParaRPr lang="en-US" sz="1008" dirty="0"/>
          </a:p>
        </p:txBody>
      </p:sp>
      <p:sp>
        <p:nvSpPr>
          <p:cNvPr id="25" name="Text 23"/>
          <p:cNvSpPr/>
          <p:nvPr/>
        </p:nvSpPr>
        <p:spPr>
          <a:xfrm>
            <a:off x="6217146" y="2540347"/>
            <a:ext cx="2368748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Técnico diseña y fabrica. Cotización con desglose obligatorio.</a:t>
            </a:r>
            <a:endParaRPr lang="en-US" sz="852" dirty="0"/>
          </a:p>
        </p:txBody>
      </p:sp>
      <p:sp>
        <p:nvSpPr>
          <p:cNvPr id="26" name="Text 24"/>
          <p:cNvSpPr/>
          <p:nvPr/>
        </p:nvSpPr>
        <p:spPr>
          <a:xfrm>
            <a:off x="6217146" y="2971354"/>
            <a:ext cx="2416123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Diseño + revisión</a:t>
            </a:r>
            <a:endParaRPr lang="en-US" sz="756" dirty="0"/>
          </a:p>
        </p:txBody>
      </p:sp>
      <p:sp>
        <p:nvSpPr>
          <p:cNvPr id="27" name="Text 25"/>
          <p:cNvSpPr/>
          <p:nvPr/>
        </p:nvSpPr>
        <p:spPr>
          <a:xfrm>
            <a:off x="6217146" y="3153668"/>
            <a:ext cx="2416123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Diseño aprobado</a:t>
            </a:r>
            <a:endParaRPr lang="en-US" sz="756" dirty="0"/>
          </a:p>
        </p:txBody>
      </p:sp>
      <p:sp>
        <p:nvSpPr>
          <p:cNvPr id="28" name="Text 26"/>
          <p:cNvSpPr/>
          <p:nvPr/>
        </p:nvSpPr>
        <p:spPr>
          <a:xfrm>
            <a:off x="6217146" y="3335982"/>
            <a:ext cx="2416123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Fabricación</a:t>
            </a:r>
            <a:endParaRPr lang="en-US" sz="756" dirty="0"/>
          </a:p>
        </p:txBody>
      </p:sp>
      <p:sp>
        <p:nvSpPr>
          <p:cNvPr id="29" name="Text 27"/>
          <p:cNvSpPr/>
          <p:nvPr/>
        </p:nvSpPr>
        <p:spPr>
          <a:xfrm>
            <a:off x="6217146" y="3518297"/>
            <a:ext cx="2416123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Despachado</a:t>
            </a:r>
            <a:endParaRPr lang="en-US" sz="756" dirty="0"/>
          </a:p>
        </p:txBody>
      </p:sp>
      <p:sp>
        <p:nvSpPr>
          <p:cNvPr id="30" name="Text 28"/>
          <p:cNvSpPr/>
          <p:nvPr/>
        </p:nvSpPr>
        <p:spPr>
          <a:xfrm>
            <a:off x="6217146" y="3700611"/>
            <a:ext cx="2416123" cy="18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756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Completado</a:t>
            </a:r>
            <a:endParaRPr lang="en-US" sz="756" dirty="0"/>
          </a:p>
        </p:txBody>
      </p:sp>
      <p:sp>
        <p:nvSpPr>
          <p:cNvPr id="31" name="Text 29"/>
          <p:cNvSpPr/>
          <p:nvPr/>
        </p:nvSpPr>
        <p:spPr>
          <a:xfrm>
            <a:off x="312664" y="4151412"/>
            <a:ext cx="851867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Principio clave: un caso = un técnico = responsabilidad clara. Sin casos compartidos.</a:t>
            </a:r>
            <a:endParaRPr lang="en-US" sz="80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180" y="1482030"/>
            <a:ext cx="4103489" cy="782985"/>
          </a:xfrm>
          <a:prstGeom prst="roundRect">
            <a:avLst>
              <a:gd name="adj" fmla="val 163497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6180" y="2363986"/>
            <a:ext cx="4103489" cy="782985"/>
          </a:xfrm>
          <a:prstGeom prst="roundRect">
            <a:avLst>
              <a:gd name="adj" fmla="val 163497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6180" y="3245941"/>
            <a:ext cx="4103489" cy="782985"/>
          </a:xfrm>
          <a:prstGeom prst="roundRect">
            <a:avLst>
              <a:gd name="adj" fmla="val 163497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4330" y="1482030"/>
            <a:ext cx="4103489" cy="3001268"/>
          </a:xfrm>
          <a:prstGeom prst="roundRect">
            <a:avLst>
              <a:gd name="adj" fmla="val 42654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1436" y="2527548"/>
            <a:ext cx="3749278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21436" y="3504456"/>
            <a:ext cx="3749278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6180" y="660053"/>
            <a:ext cx="8518672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Protección del Modelo</a:t>
            </a:r>
            <a:endParaRPr lang="en-US" sz="756" dirty="0"/>
          </a:p>
        </p:txBody>
      </p:sp>
      <p:sp>
        <p:nvSpPr>
          <p:cNvPr id="9" name="Text 7"/>
          <p:cNvSpPr/>
          <p:nvPr/>
        </p:nvSpPr>
        <p:spPr>
          <a:xfrm>
            <a:off x="396180" y="849660"/>
            <a:ext cx="851867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80"/>
              </a:lnSpc>
              <a:buNone/>
            </a:pPr>
            <a:r>
              <a:rPr lang="en-US" sz="2520" dirty="0">
                <a:solidFill>
                  <a:srgbClr val="DCE6F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Anonimato total como </a:t>
            </a:r>
            <a:pPr indent="0" marL="0">
              <a:lnSpc>
                <a:spcPts val="3780"/>
              </a:lnSpc>
              <a:buNone/>
            </a:pPr>
            <a:r>
              <a:rPr lang="en-US" sz="2520" dirty="0">
                <a:solidFill>
                  <a:srgbClr val="6282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ventaja estructural</a:t>
            </a:r>
            <a:endParaRPr lang="en-US" sz="2520" dirty="0"/>
          </a:p>
        </p:txBody>
      </p:sp>
      <p:sp>
        <p:nvSpPr>
          <p:cNvPr id="10" name="Text 8"/>
          <p:cNvSpPr/>
          <p:nvPr/>
        </p:nvSpPr>
        <p:spPr>
          <a:xfrm>
            <a:off x="559891" y="1605855"/>
            <a:ext cx="3861304" cy="180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48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Identidades ocultas</a:t>
            </a:r>
            <a:endParaRPr lang="en-US" sz="948" dirty="0"/>
          </a:p>
        </p:txBody>
      </p:sp>
      <p:sp>
        <p:nvSpPr>
          <p:cNvPr id="11" name="Text 9"/>
          <p:cNvSpPr/>
          <p:nvPr/>
        </p:nvSpPr>
        <p:spPr>
          <a:xfrm>
            <a:off x="559891" y="1816745"/>
            <a:ext cx="3785592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Dentista nunca ve el nombre del técnico. Técnico nunca ve datos del dentista. Sin contacto en ningún canal.</a:t>
            </a:r>
            <a:endParaRPr lang="en-US" sz="852" dirty="0"/>
          </a:p>
        </p:txBody>
      </p:sp>
      <p:sp>
        <p:nvSpPr>
          <p:cNvPr id="12" name="Text 10"/>
          <p:cNvSpPr/>
          <p:nvPr/>
        </p:nvSpPr>
        <p:spPr>
          <a:xfrm>
            <a:off x="559891" y="2487811"/>
            <a:ext cx="3861304" cy="180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48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 ContactGuard activo</a:t>
            </a:r>
            <a:endParaRPr lang="en-US" sz="948" dirty="0"/>
          </a:p>
        </p:txBody>
      </p:sp>
      <p:sp>
        <p:nvSpPr>
          <p:cNvPr id="13" name="Text 11"/>
          <p:cNvSpPr/>
          <p:nvPr/>
        </p:nvSpPr>
        <p:spPr>
          <a:xfrm>
            <a:off x="559891" y="2698700"/>
            <a:ext cx="3785592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Moderación automática de campos de texto libre. Bloquea URLs, teléfonos y dominios en tiempo real.</a:t>
            </a:r>
            <a:endParaRPr lang="en-US" sz="852" dirty="0"/>
          </a:p>
        </p:txBody>
      </p:sp>
      <p:sp>
        <p:nvSpPr>
          <p:cNvPr id="14" name="Text 12"/>
          <p:cNvSpPr/>
          <p:nvPr/>
        </p:nvSpPr>
        <p:spPr>
          <a:xfrm>
            <a:off x="559891" y="3369766"/>
            <a:ext cx="3861304" cy="180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48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 Precios por cotización libre</a:t>
            </a:r>
            <a:endParaRPr lang="en-US" sz="948" dirty="0"/>
          </a:p>
        </p:txBody>
      </p:sp>
      <p:sp>
        <p:nvSpPr>
          <p:cNvPr id="15" name="Text 13"/>
          <p:cNvSpPr/>
          <p:nvPr/>
        </p:nvSpPr>
        <p:spPr>
          <a:xfrm>
            <a:off x="559891" y="3580656"/>
            <a:ext cx="3785592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técnico oferta con sus propios precios. El dentista elige del panel comparativo anónimo.</a:t>
            </a:r>
            <a:endParaRPr lang="en-US" sz="852" dirty="0"/>
          </a:p>
        </p:txBody>
      </p:sp>
      <p:sp>
        <p:nvSpPr>
          <p:cNvPr id="16" name="Text 14"/>
          <p:cNvSpPr/>
          <p:nvPr/>
        </p:nvSpPr>
        <p:spPr>
          <a:xfrm>
            <a:off x="4783943" y="1659136"/>
            <a:ext cx="382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83943" y="2146697"/>
            <a:ext cx="38242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casos con técnico 100% anónimo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4783943" y="2757934"/>
            <a:ext cx="3824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fugas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83943" y="3123605"/>
            <a:ext cx="38242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posibles por diseño estructural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783943" y="3734842"/>
            <a:ext cx="3824264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b="1" dirty="0">
                <a:solidFill>
                  <a:srgbClr val="DCE6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Uber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821436" y="4004370"/>
            <a:ext cx="3749278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92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pasajero no elige al conductor.</a:t>
            </a:r>
            <a:endParaRPr lang="en-US" sz="792" dirty="0"/>
          </a:p>
          <a:p>
            <a:pPr algn="ctr" indent="0" marL="0">
              <a:lnSpc>
                <a:spcPts val="1188"/>
              </a:lnSpc>
              <a:buNone/>
            </a:pPr>
            <a:r>
              <a:rPr lang="en-US" sz="792" dirty="0">
                <a:solidFill>
                  <a:srgbClr val="56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plataforma controla todo.</a:t>
            </a:r>
            <a:endParaRPr lang="en-US" sz="79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4330" y="2876996"/>
            <a:ext cx="4103489" cy="819745"/>
          </a:xfrm>
          <a:prstGeom prst="roundRect">
            <a:avLst>
              <a:gd name="adj" fmla="val 156166"/>
            </a:avLst>
          </a:prstGeom>
          <a:solidFill>
            <a:srgbClr val="13172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6180" y="1290935"/>
            <a:ext cx="8518672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Actual</a:t>
            </a:r>
            <a:endParaRPr lang="en-US" sz="756" dirty="0"/>
          </a:p>
        </p:txBody>
      </p:sp>
      <p:sp>
        <p:nvSpPr>
          <p:cNvPr id="4" name="Text 2"/>
          <p:cNvSpPr/>
          <p:nvPr/>
        </p:nvSpPr>
        <p:spPr>
          <a:xfrm>
            <a:off x="396180" y="1480542"/>
            <a:ext cx="851867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80"/>
              </a:lnSpc>
              <a:buNone/>
            </a:pPr>
            <a:r>
              <a:rPr lang="en-US" sz="2520" dirty="0">
                <a:solidFill>
                  <a:srgbClr val="DCE6F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sistema ya está </a:t>
            </a:r>
            <a:pPr indent="0" marL="0">
              <a:lnSpc>
                <a:spcPts val="3780"/>
              </a:lnSpc>
              <a:buNone/>
            </a:pPr>
            <a:r>
              <a:rPr lang="en-US" sz="2520" dirty="0">
                <a:solidFill>
                  <a:srgbClr val="0D948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construido y operativo</a:t>
            </a:r>
            <a:endParaRPr lang="en-US" sz="2520" dirty="0"/>
          </a:p>
        </p:txBody>
      </p:sp>
      <p:sp>
        <p:nvSpPr>
          <p:cNvPr id="5" name="Text 3"/>
          <p:cNvSpPr/>
          <p:nvPr/>
        </p:nvSpPr>
        <p:spPr>
          <a:xfrm>
            <a:off x="396180" y="2112913"/>
            <a:ext cx="4185559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Implementado</a:t>
            </a:r>
            <a:endParaRPr lang="en-US" sz="756" dirty="0"/>
          </a:p>
        </p:txBody>
      </p:sp>
      <p:sp>
        <p:nvSpPr>
          <p:cNvPr id="6" name="Text 4"/>
          <p:cNvSpPr/>
          <p:nvPr/>
        </p:nvSpPr>
        <p:spPr>
          <a:xfrm>
            <a:off x="396180" y="2348210"/>
            <a:ext cx="10034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8" dirty="0"/>
          </a:p>
        </p:txBody>
      </p:sp>
      <p:sp>
        <p:nvSpPr>
          <p:cNvPr id="7" name="Text 5"/>
          <p:cNvSpPr/>
          <p:nvPr/>
        </p:nvSpPr>
        <p:spPr>
          <a:xfrm>
            <a:off x="396180" y="2570708"/>
            <a:ext cx="10034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8" dirty="0"/>
          </a:p>
        </p:txBody>
      </p:sp>
      <p:sp>
        <p:nvSpPr>
          <p:cNvPr id="8" name="Text 6"/>
          <p:cNvSpPr/>
          <p:nvPr/>
        </p:nvSpPr>
        <p:spPr>
          <a:xfrm>
            <a:off x="396180" y="2793206"/>
            <a:ext cx="10034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8" dirty="0"/>
          </a:p>
        </p:txBody>
      </p:sp>
      <p:sp>
        <p:nvSpPr>
          <p:cNvPr id="9" name="Text 7"/>
          <p:cNvSpPr/>
          <p:nvPr/>
        </p:nvSpPr>
        <p:spPr>
          <a:xfrm>
            <a:off x="396180" y="3015704"/>
            <a:ext cx="10034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8" dirty="0"/>
          </a:p>
        </p:txBody>
      </p:sp>
      <p:sp>
        <p:nvSpPr>
          <p:cNvPr id="10" name="Text 8"/>
          <p:cNvSpPr/>
          <p:nvPr/>
        </p:nvSpPr>
        <p:spPr>
          <a:xfrm>
            <a:off x="396180" y="3238202"/>
            <a:ext cx="10034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8" dirty="0"/>
          </a:p>
        </p:txBody>
      </p:sp>
      <p:sp>
        <p:nvSpPr>
          <p:cNvPr id="11" name="Text 9"/>
          <p:cNvSpPr/>
          <p:nvPr/>
        </p:nvSpPr>
        <p:spPr>
          <a:xfrm>
            <a:off x="396180" y="3460700"/>
            <a:ext cx="10034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8" dirty="0"/>
          </a:p>
        </p:txBody>
      </p:sp>
      <p:sp>
        <p:nvSpPr>
          <p:cNvPr id="12" name="Text 10"/>
          <p:cNvSpPr/>
          <p:nvPr/>
        </p:nvSpPr>
        <p:spPr>
          <a:xfrm>
            <a:off x="396180" y="3683198"/>
            <a:ext cx="10034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8" dirty="0"/>
          </a:p>
        </p:txBody>
      </p:sp>
      <p:sp>
        <p:nvSpPr>
          <p:cNvPr id="13" name="Text 11"/>
          <p:cNvSpPr/>
          <p:nvPr/>
        </p:nvSpPr>
        <p:spPr>
          <a:xfrm>
            <a:off x="4644330" y="2112913"/>
            <a:ext cx="4185559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756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⏳ Pendiente activar</a:t>
            </a:r>
            <a:endParaRPr lang="en-US" sz="756" dirty="0"/>
          </a:p>
        </p:txBody>
      </p:sp>
      <p:sp>
        <p:nvSpPr>
          <p:cNvPr id="14" name="Text 12"/>
          <p:cNvSpPr/>
          <p:nvPr/>
        </p:nvSpPr>
        <p:spPr>
          <a:xfrm>
            <a:off x="4644330" y="2348210"/>
            <a:ext cx="10034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8" dirty="0"/>
          </a:p>
        </p:txBody>
      </p:sp>
      <p:sp>
        <p:nvSpPr>
          <p:cNvPr id="15" name="Text 13"/>
          <p:cNvSpPr/>
          <p:nvPr/>
        </p:nvSpPr>
        <p:spPr>
          <a:xfrm>
            <a:off x="4644330" y="2570708"/>
            <a:ext cx="10034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8" dirty="0"/>
          </a:p>
        </p:txBody>
      </p:sp>
      <p:sp>
        <p:nvSpPr>
          <p:cNvPr id="16" name="Text 14"/>
          <p:cNvSpPr/>
          <p:nvPr/>
        </p:nvSpPr>
        <p:spPr>
          <a:xfrm>
            <a:off x="4745081" y="3016002"/>
            <a:ext cx="3901988" cy="14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6"/>
              </a:lnSpc>
              <a:buNone/>
            </a:pPr>
            <a:r>
              <a:rPr lang="en-US" sz="744" dirty="0">
                <a:solidFill>
                  <a:srgbClr val="628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tecnológico</a:t>
            </a:r>
            <a:endParaRPr lang="en-US" sz="744" dirty="0"/>
          </a:p>
        </p:txBody>
      </p:sp>
      <p:sp>
        <p:nvSpPr>
          <p:cNvPr id="17" name="Text 15"/>
          <p:cNvSpPr/>
          <p:nvPr/>
        </p:nvSpPr>
        <p:spPr>
          <a:xfrm>
            <a:off x="4783336" y="3200251"/>
            <a:ext cx="3825478" cy="35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8"/>
              </a:lnSpc>
              <a:buNone/>
            </a:pPr>
            <a:r>
              <a:rPr lang="en-US" sz="828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15 · React 19 · TypeScript · Tailwind 4</a:t>
            </a:r>
            <a:endParaRPr lang="en-US" sz="828" dirty="0"/>
          </a:p>
          <a:p>
            <a:pPr algn="ctr" indent="0" marL="0">
              <a:lnSpc>
                <a:spcPts val="1408"/>
              </a:lnSpc>
              <a:buNone/>
            </a:pPr>
            <a:r>
              <a:rPr lang="en-US" sz="828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· Drizzle ORM · Cloud Run · GCS</a:t>
            </a:r>
            <a:endParaRPr lang="en-US" sz="82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664" y="1573857"/>
            <a:ext cx="8518672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56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DentflowAI · Motor Fauchard</a:t>
            </a:r>
            <a:endParaRPr lang="en-US" sz="756" dirty="0"/>
          </a:p>
        </p:txBody>
      </p:sp>
      <p:sp>
        <p:nvSpPr>
          <p:cNvPr id="3" name="Text 1"/>
          <p:cNvSpPr/>
          <p:nvPr/>
        </p:nvSpPr>
        <p:spPr>
          <a:xfrm>
            <a:off x="396180" y="1763464"/>
            <a:ext cx="8351639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64"/>
              </a:lnSpc>
              <a:buNone/>
            </a:pPr>
            <a:r>
              <a:rPr lang="en-US" sz="3720" dirty="0">
                <a:solidFill>
                  <a:srgbClr val="6282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"DentflowAI hace el trabajo</a:t>
            </a:r>
            <a:endParaRPr lang="en-US" sz="3720" dirty="0"/>
          </a:p>
          <a:p>
            <a:pPr algn="ctr" indent="0" marL="0">
              <a:lnSpc>
                <a:spcPts val="4464"/>
              </a:lnSpc>
              <a:buNone/>
            </a:pPr>
            <a:r>
              <a:rPr lang="en-US" sz="3720" dirty="0">
                <a:solidFill>
                  <a:srgbClr val="6282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por el dentista"</a:t>
            </a:r>
            <a:endParaRPr lang="en-US" sz="3720" dirty="0"/>
          </a:p>
        </p:txBody>
      </p:sp>
      <p:sp>
        <p:nvSpPr>
          <p:cNvPr id="4" name="Text 2"/>
          <p:cNvSpPr/>
          <p:nvPr/>
        </p:nvSpPr>
        <p:spPr>
          <a:xfrm>
            <a:off x="2476500" y="3165425"/>
            <a:ext cx="4191000" cy="404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1"/>
              </a:lnSpc>
              <a:buNone/>
            </a:pPr>
            <a:r>
              <a:rPr lang="en-US" sz="936" dirty="0">
                <a:solidFill>
                  <a:srgbClr val="8B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Servicio gestionado que elimina la complejidad, protege el modelo de negocio y distribuye el trabajo con equidad algorítmica.</a:t>
            </a:r>
            <a:endParaRPr lang="en-US" sz="93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2026-06-07T21:07:45Z</dcterms:created>
  <dcterms:modified xsi:type="dcterms:W3CDTF">2026-06-07T21:07:45Z</dcterms:modified>
</cp:coreProperties>
</file>